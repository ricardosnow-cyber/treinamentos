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NR-11, Ministério do Trabalho e Emprego: treinamento específico para operadores de equipamentos com força motriz própria.</a:t>
            </a:r>
          </a:p>
          <a:p>
            <a:r>
              <a:t>- NR-12, Anexo II: etapas teórica e prática; prática supervisionada e documentada para máquinas automotrizes ou autopropelidas.</a:t>
            </a:r>
          </a:p>
          <a:p>
            <a:r>
              <a:t>- NR-35 vigente: treinamento inicial e periódico mínimo de 8 horas, quando aplicável.</a:t>
            </a:r>
          </a:p>
          <a:p>
            <a:r>
              <a:t>- Proposta interna: 4 horas, sujeita à validação do SST, POP, PGR, manuais e matriz de treinamento.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111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ZAT ALERTA • ZERO ACIDENTES TIROLEZ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30 at 12.42.20.jpeg"/>
          <p:cNvPicPr>
            <a:picLocks noChangeAspect="1"/>
          </p:cNvPicPr>
          <p:nvPr/>
        </p:nvPicPr>
        <p:blipFill>
          <a:blip r:embed="rId3"/>
          <a:srcRect t="28835" b="2883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15087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RECICLAGEM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OPERAÇÃO SEGURA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41248" y="31363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20E"/>
                </a:solidFill>
              </a:rPr>
              <a:t>Equipamentos de movimentação | CD-SP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41248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POP-QSMA-CDSP-001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618927" y="155448"/>
            <a:ext cx="1444752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/mnt/data/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079" y="201168"/>
            <a:ext cx="1298448" cy="749808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31971C38-A7D9-692C-215F-79AC1BC2D4A4}"/>
              </a:ext>
            </a:extLst>
          </p:cNvPr>
          <p:cNvSpPr/>
          <p:nvPr/>
        </p:nvSpPr>
        <p:spPr>
          <a:xfrm>
            <a:off x="530352" y="996696"/>
            <a:ext cx="164592" cy="3975575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FROTA DO CD-SP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Identificação correta dos equipamentos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0896" y="1289304"/>
            <a:ext cx="21579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50.41.jpeg"/>
          <p:cNvPicPr>
            <a:picLocks noChangeAspect="1"/>
          </p:cNvPicPr>
          <p:nvPr/>
        </p:nvPicPr>
        <p:blipFill>
          <a:blip r:embed="rId4"/>
          <a:srcRect l="6467" r="6467"/>
          <a:stretch/>
        </p:blipFill>
        <p:spPr>
          <a:xfrm>
            <a:off x="347472" y="1325880"/>
            <a:ext cx="2084832" cy="31821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7472" y="4507992"/>
            <a:ext cx="2084832" cy="10424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420624" y="47091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CONTRABALANÇADA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20624" y="5148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C20E"/>
                </a:solidFill>
              </a:rPr>
              <a:t>STILL RX 50-16</a:t>
            </a:r>
            <a:endParaRPr lang="en-US" sz="870" dirty="0"/>
          </a:p>
        </p:txBody>
      </p:sp>
      <p:sp>
        <p:nvSpPr>
          <p:cNvPr id="11" name="Shape 7"/>
          <p:cNvSpPr/>
          <p:nvPr/>
        </p:nvSpPr>
        <p:spPr>
          <a:xfrm>
            <a:off x="2651760" y="1289304"/>
            <a:ext cx="21579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2" descr="/mnt/data/WhatsApp Image 2026-09-30 at 12.50.00.jpeg"/>
          <p:cNvPicPr>
            <a:picLocks noChangeAspect="1"/>
          </p:cNvPicPr>
          <p:nvPr/>
        </p:nvPicPr>
        <p:blipFill>
          <a:blip r:embed="rId5"/>
          <a:srcRect l="6467" r="6467"/>
          <a:stretch/>
        </p:blipFill>
        <p:spPr>
          <a:xfrm>
            <a:off x="2688336" y="1325880"/>
            <a:ext cx="2084832" cy="31821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688336" y="4507992"/>
            <a:ext cx="2084832" cy="10424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2761488" y="47091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PALETEIRA ELÉTRICA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761488" y="5148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C20E"/>
                </a:solidFill>
              </a:rPr>
              <a:t>STILL</a:t>
            </a:r>
            <a:endParaRPr lang="en-US" sz="870" dirty="0"/>
          </a:p>
        </p:txBody>
      </p:sp>
      <p:sp>
        <p:nvSpPr>
          <p:cNvPr id="16" name="Shape 11"/>
          <p:cNvSpPr/>
          <p:nvPr/>
        </p:nvSpPr>
        <p:spPr>
          <a:xfrm>
            <a:off x="4992624" y="1289304"/>
            <a:ext cx="21579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/mnt/data/WhatsApp Image 2026-09-30 at 16.13.47.jpeg"/>
          <p:cNvPicPr>
            <a:picLocks noChangeAspect="1"/>
          </p:cNvPicPr>
          <p:nvPr/>
        </p:nvPicPr>
        <p:blipFill>
          <a:blip r:embed="rId6"/>
          <a:srcRect l="6467" r="6467"/>
          <a:stretch/>
        </p:blipFill>
        <p:spPr>
          <a:xfrm>
            <a:off x="5029200" y="1325880"/>
            <a:ext cx="2084832" cy="31821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4507992"/>
            <a:ext cx="2084832" cy="10424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5102352" y="47091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PATOLADA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102352" y="5148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C20E"/>
                </a:solidFill>
              </a:rPr>
              <a:t>STILL EGV 16</a:t>
            </a:r>
            <a:endParaRPr lang="en-US" sz="870" dirty="0"/>
          </a:p>
        </p:txBody>
      </p:sp>
      <p:sp>
        <p:nvSpPr>
          <p:cNvPr id="21" name="Shape 15"/>
          <p:cNvSpPr/>
          <p:nvPr/>
        </p:nvSpPr>
        <p:spPr>
          <a:xfrm>
            <a:off x="7333488" y="1289304"/>
            <a:ext cx="21579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4" descr="/mnt/data/WhatsApp Image 2026-09-30 at 12.43.22.jpeg"/>
          <p:cNvPicPr>
            <a:picLocks noChangeAspect="1"/>
          </p:cNvPicPr>
          <p:nvPr/>
        </p:nvPicPr>
        <p:blipFill>
          <a:blip r:embed="rId7"/>
          <a:srcRect l="6467" r="6467"/>
          <a:stretch/>
        </p:blipFill>
        <p:spPr>
          <a:xfrm>
            <a:off x="7370064" y="1325880"/>
            <a:ext cx="2084832" cy="318211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370064" y="4507992"/>
            <a:ext cx="2084832" cy="10424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7"/>
          <p:cNvSpPr/>
          <p:nvPr/>
        </p:nvSpPr>
        <p:spPr>
          <a:xfrm>
            <a:off x="7443216" y="47091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PEMT TESOURA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443216" y="5148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C20E"/>
                </a:solidFill>
              </a:rPr>
              <a:t>HANGCHA</a:t>
            </a:r>
            <a:endParaRPr lang="en-US" sz="870" dirty="0"/>
          </a:p>
        </p:txBody>
      </p:sp>
      <p:sp>
        <p:nvSpPr>
          <p:cNvPr id="26" name="Shape 19"/>
          <p:cNvSpPr/>
          <p:nvPr/>
        </p:nvSpPr>
        <p:spPr>
          <a:xfrm>
            <a:off x="9674352" y="1289304"/>
            <a:ext cx="21579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7" name="Image 5" descr="/mnt/data/WhatsApp Image 2026-09-30 at 12.42.20.jpeg"/>
          <p:cNvPicPr>
            <a:picLocks noChangeAspect="1"/>
          </p:cNvPicPr>
          <p:nvPr/>
        </p:nvPicPr>
        <p:blipFill>
          <a:blip r:embed="rId8"/>
          <a:srcRect l="6467" r="6467"/>
          <a:stretch/>
        </p:blipFill>
        <p:spPr>
          <a:xfrm>
            <a:off x="9710928" y="1325880"/>
            <a:ext cx="2084832" cy="318211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710928" y="4507992"/>
            <a:ext cx="2084832" cy="1042416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9784080" y="47091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RETRÁTIL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9784080" y="5148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C20E"/>
                </a:solidFill>
              </a:rPr>
              <a:t>YALE</a:t>
            </a:r>
            <a:endParaRPr lang="en-US" sz="870" dirty="0"/>
          </a:p>
        </p:txBody>
      </p:sp>
      <p:sp>
        <p:nvSpPr>
          <p:cNvPr id="31" name="Text 23"/>
          <p:cNvSpPr/>
          <p:nvPr/>
        </p:nvSpPr>
        <p:spPr>
          <a:xfrm>
            <a:off x="1280160" y="58521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1920"/>
                </a:solidFill>
              </a:rPr>
              <a:t>A autorização deve corresponder ao equipamento efetivamente operado.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GOVERNANÇA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Base legal e duração proposta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98448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360" y="1298448"/>
            <a:ext cx="73152" cy="33375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" y="14447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NR-11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792224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Treinamento específico para equipamentos com força motriz própria. Não fixa carga horária mínima geral.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69664" y="1298448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169664" y="1298448"/>
            <a:ext cx="73152" cy="3337560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379976" y="14447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NR-12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79976" y="1792224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Capacitação compatível com função, máquina, riscos e procedimento.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44968" y="1298448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7744968" y="1298448"/>
            <a:ext cx="73152" cy="333756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955280" y="144475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NR-35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55280" y="1792224"/>
            <a:ext cx="301752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PEMT em trabalho em altura exige trilha específica. Inicial e periódico: mínimo de 8 horas.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828800" y="5010912"/>
            <a:ext cx="8549640" cy="530352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011680" y="5184648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RECICLAGEM GERAL: 4 h | 2 h teoria + 2 h prática e avaliação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D71920"/>
                </a:solidFill>
              </a:defRPr>
            </a:pPr>
            <a:r>
              <a:t>CARGA HORÁRIA E ENQUADRAMENTO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96696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700" b="1">
                <a:solidFill>
                  <a:srgbClr val="151515"/>
                </a:solidFill>
              </a:defRPr>
            </a:pPr>
            <a:r>
              <a:t>Como aplicar as 4 horas com segurança jurídica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35640" y="301752"/>
            <a:ext cx="1225295" cy="71323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347472"/>
            <a:ext cx="1078992" cy="621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280160"/>
            <a:ext cx="336499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80160"/>
            <a:ext cx="82296" cy="30175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8132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1515"/>
                </a:solidFill>
              </a:defRPr>
            </a:pPr>
            <a:r>
              <a:t>NR-11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65960"/>
            <a:ext cx="28529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5656"/>
                </a:solidFill>
              </a:defRPr>
            </a:pPr>
            <a:r>
              <a:t>Treinamento específico, fornecido pela empresa, para habilitar o operador. A norma não fixa carga horária mínima geral para esta reciclagem.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2232" y="1280160"/>
            <a:ext cx="336499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42232" y="1280160"/>
            <a:ext cx="82296" cy="301752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148132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1515"/>
                </a:solidFill>
              </a:defRPr>
            </a:pPr>
            <a:r>
              <a:t>NR-12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965960"/>
            <a:ext cx="28529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5656"/>
                </a:solidFill>
              </a:defRPr>
            </a:pPr>
            <a:r>
              <a:t>Capacitação em etapas teórica e prática. Para máquinas automotrizes ou autopropelidas, a prática deve ser supervisionada e documentada.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1280160"/>
            <a:ext cx="3364992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17536" y="1280160"/>
            <a:ext cx="82296" cy="301752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6136" y="148132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1515"/>
                </a:solidFill>
              </a:defRPr>
            </a:pPr>
            <a:r>
              <a:t>NR-35 / PEMT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1965960"/>
            <a:ext cx="28529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65656"/>
                </a:solidFill>
              </a:defRPr>
            </a:pPr>
            <a:r>
              <a:t>Quando houver trabalho em altura, este módulo geral não substitui a capacitação específica. Treinamentos inicial e periódico: mínimo de 8 horas.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617720"/>
            <a:ext cx="9537192" cy="658368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4800600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RECICLAGEM OPERACIONAL INTERNA: 4 h  |  2 h teoria + 2 h prática e avaliação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468112"/>
            <a:ext cx="10085832" cy="713232"/>
          </a:xfrm>
          <a:prstGeom prst="round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43584" y="5586984"/>
            <a:ext cx="9710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51515"/>
                </a:solidFill>
              </a:defRPr>
            </a:pPr>
            <a:r>
              <a:t>A carga de 4 h é critério interno e deve ser validada conforme POP, PGR, manuais, riscos e matriz de treinamento. A aprovação exige avaliação teórica, prática supervisionada e autorização por equipamento.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611112"/>
            <a:ext cx="5486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ZAT ALERTA • ZERO ACIDENTES TIROLEZ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0" y="6611112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ANTES DE OPERAR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Checklist pré-uso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21424" y="1106424"/>
            <a:ext cx="4828032" cy="5148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50.41.jpeg"/>
          <p:cNvPicPr>
            <a:picLocks noChangeAspect="1"/>
          </p:cNvPicPr>
          <p:nvPr/>
        </p:nvPicPr>
        <p:blipFill>
          <a:blip r:embed="rId4"/>
          <a:srcRect t="9843" b="9843"/>
          <a:stretch/>
        </p:blipFill>
        <p:spPr>
          <a:xfrm>
            <a:off x="6858000" y="1143000"/>
            <a:ext cx="4754880" cy="5074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1280160"/>
            <a:ext cx="580644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Identificação e autorização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Pneus, rodas, garfos, patolas, torre, correntes e mangueiras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Freio, direção, buzina, iluminação, alarme e emergência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Placa de capacidade e avisos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Bateria, conectores e comandos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51515"/>
                </a:solidFill>
              </a:rPr>
              <a:t>Rota, piso, obstáculos, pedestres e carga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STILL RX 50-16 | EMP068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Empilhadeira contrabalançada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" y="1078992"/>
            <a:ext cx="4873752" cy="5175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50.41.jpeg"/>
          <p:cNvPicPr>
            <a:picLocks noChangeAspect="1"/>
          </p:cNvPicPr>
          <p:nvPr/>
        </p:nvPicPr>
        <p:blipFill>
          <a:blip r:embed="rId4"/>
          <a:srcRect t="10010" b="10010"/>
          <a:stretch/>
        </p:blipFill>
        <p:spPr>
          <a:xfrm>
            <a:off x="502920" y="1115568"/>
            <a:ext cx="4800600" cy="5102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59552" y="1170432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5559552" y="1170432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9864" y="1316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ESTABILIDADE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9864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Evitar curvas, rampas, frenagens e acelerações bruscas.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59552" y="2414016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559552" y="2414016"/>
            <a:ext cx="73152" cy="9875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69864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CAPACIDADE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9864" y="2907792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Confirmar carga, centro de gravidade e placa.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59552" y="3657600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59552" y="3657600"/>
            <a:ext cx="73152" cy="9875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769864" y="38039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VISIBILIDADE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9864" y="4151376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Aplicar a conduta do POP quando a carga bloquear a visão.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4901184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559552" y="4901184"/>
            <a:ext cx="73152" cy="98755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5769864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POSTO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769864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Corpo dentro da estrutura e cinto quando aplicável.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STILL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Paleteira elétrica com plataforma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" y="1078992"/>
            <a:ext cx="4873752" cy="5175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50.00.jpeg"/>
          <p:cNvPicPr>
            <a:picLocks noChangeAspect="1"/>
          </p:cNvPicPr>
          <p:nvPr/>
        </p:nvPicPr>
        <p:blipFill>
          <a:blip r:embed="rId4"/>
          <a:srcRect t="10010" b="10010"/>
          <a:stretch/>
        </p:blipFill>
        <p:spPr>
          <a:xfrm>
            <a:off x="502920" y="1115568"/>
            <a:ext cx="4800600" cy="5102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59552" y="1170432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5559552" y="1170432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9864" y="1316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PRÉ-USO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9864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Timão, comandos, rodas, garfos e emergência.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59552" y="2414016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559552" y="2414016"/>
            <a:ext cx="73152" cy="9875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69864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ESMAGAMENTO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9864" y="2907792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Manter pés e pernas fora da zona de risco.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59552" y="3657600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59552" y="3657600"/>
            <a:ext cx="73152" cy="9875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769864" y="38039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CIRCULAÇÃO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9864" y="4151376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Reduzir em curvas, portas e cruzamentos.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4901184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559552" y="4901184"/>
            <a:ext cx="73152" cy="98755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5769864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ESTACIONAMENTO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769864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Garfos baixos e local autorizado.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HANGCHA | 100XENS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PEMT tipo tesoura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" y="1078992"/>
            <a:ext cx="4873752" cy="5175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43.22.jpeg"/>
          <p:cNvPicPr>
            <a:picLocks noChangeAspect="1"/>
          </p:cNvPicPr>
          <p:nvPr/>
        </p:nvPicPr>
        <p:blipFill>
          <a:blip r:embed="rId4"/>
          <a:srcRect t="10010" b="10010"/>
          <a:stretch/>
        </p:blipFill>
        <p:spPr>
          <a:xfrm>
            <a:off x="502920" y="1115568"/>
            <a:ext cx="4800600" cy="5102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59552" y="1170432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5559552" y="1170432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9864" y="1316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INSPEÇÃO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9864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Comandos, emergência, guarda-corpo, portão, rodas e vazamentos.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59552" y="2414016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559552" y="2414016"/>
            <a:ext cx="73152" cy="9875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69864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AMBIENTE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9864" y="2907792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Piso, inclinação, obstáculos superiores e isolamento.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59552" y="3657600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59552" y="3657600"/>
            <a:ext cx="73152" cy="9875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769864" y="38039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OPERAÇÃO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9864" y="4151376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Portão fechado e sem improvisos para ganhar altura.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4901184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559552" y="4901184"/>
            <a:ext cx="73152" cy="98755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5769864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EMERGÊNCIA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769864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Plano de descida ou resgate conforme procedimento.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YALE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Empilhadeira retrátil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" y="1078992"/>
            <a:ext cx="4873752" cy="5175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2.42.20.jpeg"/>
          <p:cNvPicPr>
            <a:picLocks noChangeAspect="1"/>
          </p:cNvPicPr>
          <p:nvPr/>
        </p:nvPicPr>
        <p:blipFill>
          <a:blip r:embed="rId4"/>
          <a:srcRect t="10010" b="10010"/>
          <a:stretch/>
        </p:blipFill>
        <p:spPr>
          <a:xfrm>
            <a:off x="502920" y="1115568"/>
            <a:ext cx="4800600" cy="5102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59552" y="1170432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5559552" y="1170432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9864" y="1316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ANTES DO CORREDOR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9864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Piso, altura livre, porta-paletes, pessoas e estabilidade.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59552" y="2414016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559552" y="2414016"/>
            <a:ext cx="73152" cy="9875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69864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POSICIONAMENTO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9864" y="2907792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Alinhar antes de elevar.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59552" y="3657600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59552" y="3657600"/>
            <a:ext cx="73152" cy="9875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769864" y="38039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RETIRADA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9864" y="4151376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Retrair quando aplicável e baixar antes de deslocar.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4901184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559552" y="4901184"/>
            <a:ext cx="73152" cy="98755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5769864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CIRCULAÇÃO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769864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Carga elevada não é condição de circulação.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STILL EGV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Empilhadeira patolada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" y="1078992"/>
            <a:ext cx="4873752" cy="5175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762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WhatsApp Image 2026-09-30 at 16.13.47.jpeg"/>
          <p:cNvPicPr>
            <a:picLocks noChangeAspect="1"/>
          </p:cNvPicPr>
          <p:nvPr/>
        </p:nvPicPr>
        <p:blipFill>
          <a:blip r:embed="rId4"/>
          <a:srcRect t="10010" b="10010"/>
          <a:stretch/>
        </p:blipFill>
        <p:spPr>
          <a:xfrm>
            <a:off x="502920" y="1115568"/>
            <a:ext cx="4800600" cy="5102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59552" y="1170432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5559552" y="1170432"/>
            <a:ext cx="73152" cy="9875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9864" y="1316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PRÉ-USO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9864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Timão, comandos, rodas, patolas, garfos, torre, correntes e emergência.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59552" y="2414016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5559552" y="2414016"/>
            <a:ext cx="73152" cy="9875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769864" y="25603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POSICIONAMENTO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769864" y="2907792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Alinhar e confirmar estabilidade antes de elevar.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59552" y="3657600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59552" y="3657600"/>
            <a:ext cx="73152" cy="9875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769864" y="38039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CIRCULAÇÃO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9864" y="4151376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Garfos baixos, velocidade controlada e distância segura.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4901184"/>
            <a:ext cx="5943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5559552" y="4901184"/>
            <a:ext cx="73152" cy="98755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5769864" y="504748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ARMAZENAGEM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769864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Elevar somente parado e conforme capacidade, POP e porta-paletes.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REGRAS COMUNS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Circulação segura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98448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360" y="1298448"/>
            <a:ext cx="73152" cy="15544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" y="14447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VELOCIDADE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792224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Respeitar sinalização e reduzir em pontos críticos.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298448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61688" y="1298448"/>
            <a:ext cx="73152" cy="1554480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0" y="14447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GARFOS BAIXOS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0" y="1792224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Manter carga na menor altura segura.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29016" y="1298448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129016" y="1298448"/>
            <a:ext cx="73152" cy="15544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339328" y="14447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PONTO CEGO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39328" y="1792224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Reduzir, parar e buzinar.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" y="3291840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94360" y="3291840"/>
            <a:ext cx="73152" cy="155448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04672" y="34381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PEDESTRES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4672" y="3785616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Respeitar faixas e segregação.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61688" y="3291840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361688" y="3291840"/>
            <a:ext cx="73152" cy="1554480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572000" y="34381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DISTRAÇÃO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0" y="3785616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Sem celular ou fones.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129016" y="3291840"/>
            <a:ext cx="3419856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8129016" y="3291840"/>
            <a:ext cx="73152" cy="155448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339328" y="34381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ESTACIONAMENTO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339328" y="3785616"/>
            <a:ext cx="303580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Local autorizado e equipamento seguro.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BARREIRAS CRÍTICAS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Carga, armazenagem e docas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80160"/>
            <a:ext cx="34290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360" y="1280160"/>
            <a:ext cx="73152" cy="418795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" y="1426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CARGA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773936"/>
            <a:ext cx="3044952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Palete íntegro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Peso conhecido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Centro de gravidade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Garfos centralizados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Carga estável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33672" y="1280160"/>
            <a:ext cx="34290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233672" y="1280160"/>
            <a:ext cx="73152" cy="41879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443984" y="1426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ARMAZENAGEM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43984" y="1773936"/>
            <a:ext cx="3044952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Endereço correto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Entrada alinhada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Sem contato com estrutura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Carga apoiada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Corredor liberado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72984" y="1280160"/>
            <a:ext cx="34290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7872984" y="1280160"/>
            <a:ext cx="73152" cy="418795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083296" y="1426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DOCAS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83296" y="1773936"/>
            <a:ext cx="3044952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Veículo imobilizado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Freio e calços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Rampa estável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Chave controlada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Área livre de pessoas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SEM NEGOCIAÇÃO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Critérios de parada e interdição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143000"/>
            <a:ext cx="8412480" cy="566928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96112" y="1316736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Freio, direção, garfo, patola, torre, corrente ou trava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9217152" y="1261872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308592" y="133502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INTERDITAR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901952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6112" y="2075688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Buzina, alarme ou dispositivo inoperante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9217152" y="2020824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9308592" y="209397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INTERDITAR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660904"/>
            <a:ext cx="8412480" cy="566928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6112" y="2834640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Vazamento, fumaça, aquecimento ou bateria danificada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9217152" y="2779776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308592" y="28529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ISOLAR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3419856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96112" y="359359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Piso crítico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217152" y="3538728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9308592" y="36118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BLOQUEAR ÁREA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4178808"/>
            <a:ext cx="8412480" cy="566928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896112" y="4352544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Carga ou palete instável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9217152" y="4297680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9308592" y="437083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NÃO MOVIMENTAR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" y="4937760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896112" y="5111496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51515"/>
                </a:solidFill>
              </a:rPr>
              <a:t>Falha de comando ou emergência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9217152" y="5056632"/>
            <a:ext cx="2057400" cy="329184"/>
          </a:xfrm>
          <a:prstGeom prst="round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9308592" y="512978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INTERDITAR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EVIDÊNCIA DE COMPETÊNCIA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Avaliação prática por equipamento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34440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360" y="1234440"/>
            <a:ext cx="73152" cy="158191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" y="1380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IDENTIFICAR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728216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equipamento e autorização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1234440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61688" y="1234440"/>
            <a:ext cx="73152" cy="1581912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0" y="1380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INSPECIONAR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0" y="1728216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componentes críticos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29016" y="1234440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129016" y="1234440"/>
            <a:ext cx="73152" cy="158191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339328" y="1380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PLANEJAR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39328" y="1728216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rota, carga e pessoas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" y="3264408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94360" y="3264408"/>
            <a:ext cx="73152" cy="158191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04672" y="3410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OPERAR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4672" y="3758184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deslocamento e manobra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61688" y="3264408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361688" y="3264408"/>
            <a:ext cx="73152" cy="1581912"/>
          </a:xfrm>
          <a:prstGeom prst="rect">
            <a:avLst/>
          </a:prstGeom>
          <a:solidFill>
            <a:srgbClr val="F07C00"/>
          </a:solidFill>
          <a:ln w="12700">
            <a:solidFill>
              <a:srgbClr val="F07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572000" y="3410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INTERROMPER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0" y="3758184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condição insegura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129016" y="3264408"/>
            <a:ext cx="3429000" cy="1581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8129016" y="3264408"/>
            <a:ext cx="73152" cy="1581912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8339328" y="3410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ESTACIONAR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339328" y="3758184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encerramento seguro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71920"/>
                </a:solidFill>
              </a:rPr>
              <a:t>REGISTROS NECESSÁRIOS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515"/>
                </a:solidFill>
              </a:rPr>
              <a:t>Conclusão do treinamento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8383" y="301752"/>
            <a:ext cx="1225296" cy="713232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47472"/>
            <a:ext cx="10789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41732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360" y="1417320"/>
            <a:ext cx="73152" cy="32461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" y="1563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PARTICIPAÇÃO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911096"/>
            <a:ext cx="21945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Lista e conteúdo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41732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474720" y="1417320"/>
            <a:ext cx="73152" cy="3246120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85032" y="1563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TEORIA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85032" y="1911096"/>
            <a:ext cx="21945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Avaliação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55080" y="141732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355080" y="1417320"/>
            <a:ext cx="73152" cy="32461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565392" y="1563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PRÁTICA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65392" y="1911096"/>
            <a:ext cx="21945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Sem falha crítica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235440" y="141732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235440" y="1417320"/>
            <a:ext cx="73152" cy="3246120"/>
          </a:xfrm>
          <a:prstGeom prst="rect">
            <a:avLst/>
          </a:prstGeom>
          <a:solidFill>
            <a:srgbClr val="16834A"/>
          </a:solidFill>
          <a:ln w="12700">
            <a:solidFill>
              <a:srgbClr val="168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9445752" y="1563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5"/>
                </a:solidFill>
              </a:rPr>
              <a:t>AUTORIZAÇÃO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445752" y="1911096"/>
            <a:ext cx="21945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56"/>
                </a:solidFill>
              </a:rPr>
              <a:t>Por equipamento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143000" y="5074920"/>
            <a:ext cx="9875520" cy="658368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1417320" y="5294376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Participação ≠ capacitação ≠ avaliação ≠ autorização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61111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>
              <a:defRPr sz="800">
                <a:solidFill>
                  <a:srgbClr val="FFFFFF"/>
                </a:solidFill>
              </a:defRPr>
            </a:pPr>
            <a: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30 at 16.13.47.jpeg"/>
          <p:cNvPicPr>
            <a:picLocks noChangeAspect="1"/>
          </p:cNvPicPr>
          <p:nvPr/>
        </p:nvPicPr>
        <p:blipFill>
          <a:blip r:embed="rId3"/>
          <a:srcRect t="28835" b="2883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777240" y="1097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TRÊS COMPROMISSOS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04672" y="1920240"/>
            <a:ext cx="6903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C20E"/>
                </a:solidFill>
              </a:rPr>
              <a:t>1  CHECKLIST SEM ATALHO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FC20E"/>
                </a:solidFill>
              </a:rPr>
              <a:t>2  EQUIPAMENTO CERTO, AUTORIZAÇÃO CERTA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FC20E"/>
                </a:solidFill>
              </a:rPr>
              <a:t>3  NA DÚVIDA, PARE E COMUNIQUE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10618927" y="155448"/>
            <a:ext cx="1444752" cy="84124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/mnt/data/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079" y="201168"/>
            <a:ext cx="129844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882</Words>
  <Application>Microsoft Office PowerPoint</Application>
  <PresentationFormat>Widescreen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Tirolez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Reciclagem Operação Segura CD-SP</dc:title>
  <dc:subject>PptxGenJS Presentation</dc:subject>
  <dc:creator>Ricardo Andrade</dc:creator>
  <cp:lastModifiedBy>Ricardo Andrade</cp:lastModifiedBy>
  <cp:revision>4</cp:revision>
  <dcterms:created xsi:type="dcterms:W3CDTF">2026-09-30T19:29:17Z</dcterms:created>
  <dcterms:modified xsi:type="dcterms:W3CDTF">2026-09-30T19:58:53Z</dcterms:modified>
</cp:coreProperties>
</file>